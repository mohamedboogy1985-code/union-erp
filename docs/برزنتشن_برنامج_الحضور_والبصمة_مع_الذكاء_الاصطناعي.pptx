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11094415" cy="283464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22D3EE"/>
                </a:solidFill>
                <a:latin typeface="Segoe UI"/>
              </a:rPr>
              <a:t>البرنامج المحاسبي المتكامل — النواة الذكية للاتحاد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1F5F9"/>
                </a:solidFill>
                <a:latin typeface="Segoe UI"/>
              </a:rPr>
              <a:t>•  برنامج الحضور والانصراف ببصمة اليد والوجه</a:t>
            </a:r>
          </a:p>
          <a:p>
            <a:pPr algn="r" rtl="1">
              <a:spcAft>
                <a:spcPts val="600"/>
              </a:spcAft>
            </a:pPr>
            <a:r>
              <a:rPr sz="3200" b="1">
                <a:solidFill>
                  <a:srgbClr val="F1F5F9"/>
                </a:solidFill>
                <a:latin typeface="Segoe UI"/>
              </a:rPr>
              <a:t>•  وربطه بالمرتبات + المساعد الذكي في كل الشاشات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بصمة • مرتبات • ضرائب • فاتورة إلكترونية • مساعد يفهم العامية المصرية وينفّذ على بيانات حقيقية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34340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50792" y="4453128"/>
            <a:ext cx="64008" cy="950976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416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صلاحية اعتماد الربط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34D399"/>
                </a:solidFill>
                <a:latin typeface="Segoe UI"/>
              </a:rPr>
              <a:t>محمد عبد الله أحمد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148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زر «اعتماد» أو «عدم اعتماد» بيده وحده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434340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4453128"/>
            <a:ext cx="64008" cy="95097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4416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أوامر يفهمها المساعد الآن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30+ أمر تنفيذي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5148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فاتورة • سلف • مسير • استخراج • بحث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434340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585448" y="4453128"/>
            <a:ext cx="64008" cy="950976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4416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اختبارات التشغيل الفعلية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4727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240 فحصاً ناجحاً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5148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106 تحقق • 24 حيّ • 34 متصفح • 30 مساعد • وصوت 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أُعدّ خصيصاً لمحمد عبد الله — بوابة النقابة العامة | الوضع المحلي بلا خدمات خارجية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01 — الوضع الحالي وأثره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لماذا نحتاج النظام؟ المشكلة قبل البرنامج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86400" cy="402336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71032" y="1618488"/>
            <a:ext cx="64008" cy="3803904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1F5F9"/>
                </a:solidFill>
                <a:latin typeface="Segoe UI"/>
              </a:rPr>
              <a:t>•  غياب سجل حضور موثّق بالبصمة ⇒ خصومات بالتقدير لا بالدليل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ورق تحضير يدوي وتأخير في تجهيز مسير المرتبات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أخطاء في تجميع السلف والخصومات وتكرارها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فقدان الوقت في تجميع بيانات العاملين والحسابات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صعوبة الوصول لكشف حساب أو شيك أو قيد معيّن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مخاطرة تأخير الإقرارات والفاتورة الإلكترونية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94960" cy="402336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594592" y="1618488"/>
            <a:ext cx="64008" cy="380390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1F5F9"/>
                </a:solidFill>
                <a:latin typeface="Segoe UI"/>
              </a:rPr>
              <a:t>•  بعد البرنامج: دليل رقمي واحد من البصمة إلى المسير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حركة البصمة لحظة الحضور والانصراف بدرجة مطابقة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خصم الغياب والتأخير يُحسب تلقائياً في المسير بعد الاعتماد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سلف العاملين تُعتمد وتُخصم من المسير مباشرة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استخراج أي بيانات لملف CSV بضغطة زر</a:t>
            </a:r>
          </a:p>
          <a:p>
            <a:pPr algn="r" rtl="1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Segoe UI"/>
              </a:rPr>
              <a:t>•  فاتورة إلكترونية وقيود ضريبية برقم قيد مُرحّل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Segoe UI"/>
              </a:rPr>
              <a:t>القاعدة الذهبية:  كل عملية مالية تمرّ بمراجعتك واعتمادك — لا ترحيل آلي بلا إذن.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02 — من بصمة اليد إلى كشف الحساب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دورة العمل الكاملة في البرنامج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103120" cy="228600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87752" y="1709928"/>
            <a:ext cx="64008" cy="206654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الخطوة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بصمة اليد / الوجه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تسجيل قالب العامل + تسجيل الحضور والانصراف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1600200"/>
            <a:ext cx="2103120" cy="228600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55464" y="1709928"/>
            <a:ext cx="64008" cy="2066544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2656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1">
                <a:solidFill>
                  <a:srgbClr val="818CF8"/>
                </a:solidFill>
                <a:latin typeface="Segoe UI"/>
              </a:rPr>
              <a:t>الخطوة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سجل الحضور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62656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حساب أيام العمل والغياب ودقائق التأخير والإضافي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00200"/>
            <a:ext cx="2103120" cy="228600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23176" y="1709928"/>
            <a:ext cx="64008" cy="206654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1">
                <a:solidFill>
                  <a:srgbClr val="FBBF24"/>
                </a:solidFill>
                <a:latin typeface="Segoe UI"/>
              </a:rPr>
              <a:t>الخطوة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اعتماد الربط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محمد عبد الله وحده: اعتماد أم لا اعتماد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6" y="1600200"/>
            <a:ext cx="2103120" cy="228600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90888" y="1709928"/>
            <a:ext cx="64008" cy="206654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1">
                <a:solidFill>
                  <a:srgbClr val="34D399"/>
                </a:solidFill>
                <a:latin typeface="Segoe UI"/>
              </a:rPr>
              <a:t>الخطوة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مسير المرتبات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توليد • اعتماد • ترحيل مع خصم الغياب والتأخير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9488" y="1600200"/>
            <a:ext cx="2103120" cy="228600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658600" y="1709928"/>
            <a:ext cx="64008" cy="206654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الخطوة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057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القيد والكشف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6974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قيد مرحّل + كشف حساب + تقارير الضرائب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11109960" cy="141732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1594592" y="4315968"/>
            <a:ext cx="64008" cy="119786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370832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•  نقطة التحكّم: زر «اعتماد الربط» و«عدم الاعتماد»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قبل الاعتماد: المسير يخرج بالراتب كاملاً بلا أي خصم بصمة. وبعد اعتماد محمد عبد الله: يُخصم الغياب والتأخير تلقائياً — والقرار مسجَّل بالاسم والتاريخ في سجل البصمة.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03 — كيف يعمل فعلياً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برنامج الحضور والانصراف ببصمة اليد والوجه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349240" cy="411480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594592" y="1664208"/>
            <a:ext cx="64008" cy="389534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737360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•  ما يفعله البرنامج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تسجيل قالب بصمة الإصبع + قالب الوجه لكل عامل من الشاشة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تشغيل كاميرا الجهاز والتقاط صورة الوجه لحظياً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تسجيل حركة (حضور/انصراف) بدرجة مطابقة تُعرض بوضوح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جدول حركات مباشر + ملخص شهري لكل عامل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3 أجهزة بصمة معرّفة (بوابة رئيسية • مكتب • جهاز وجه)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يعمل بلا إنترنت وبلا خدمات خارجية — كل البيانات عندك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532120" cy="411480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16752" y="1664208"/>
            <a:ext cx="64008" cy="3895344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•  أرقام حقيقية من تشغيل اليوم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76 عاملاً في قاعدة الموارد البشرية جاهزون للبصمة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درجة المطابقة في الاختبار: بصمة إصبع 92% • بصمة وجه 88%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الحد المقبول للمطابقة 70% — أقل من ذلك يُرفض تلقائياً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ملخص شهري: أيام حضور • غياب • تأخير بالدقائق • عمل إضافي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خصم الغياب = (الأجر الشامل ÷ 30) × أيام الغياب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المسير الناتج في الاختبار: صافي 486,809.12 ج لعام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0644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50792" y="5916168"/>
            <a:ext cx="64008" cy="950976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879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خصم البصمة في المسير المُرحّل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904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34D399"/>
                </a:solidFill>
                <a:latin typeface="Segoe UI"/>
              </a:rPr>
              <a:t>17,947.28 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611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بعد اعتماد الربط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580644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8120" y="5916168"/>
            <a:ext cx="64008" cy="950976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5879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حالة الربط قبل الاعتماد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61904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FBBF24"/>
                </a:solidFill>
                <a:latin typeface="Segoe UI"/>
              </a:rPr>
              <a:t>بدون خصم بصمة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6611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المسير بالراتب كاملاً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3296" y="580644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585448" y="5916168"/>
            <a:ext cx="64008" cy="950976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58795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من يعتمد الربط؟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619048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FB7185"/>
                </a:solidFill>
                <a:latin typeface="Segoe UI"/>
              </a:rPr>
              <a:t>محمد عبد الله فقط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66111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لا يعتمدها أي حساب آخر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04 — المحرّك الذكي داخل كل شاشة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دور الذكاء الاصطناعي في البرنامج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611880" cy="1874519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96512" y="1664208"/>
            <a:ext cx="64008" cy="1655063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المساعد العام في كل الشاشات — وأيقونته على اليمين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F1F5F9"/>
                </a:solidFill>
                <a:latin typeface="Segoe UI"/>
              </a:rPr>
              <a:t>يفهم العامية المصرية وينفّذ الأمر على بيانات البرنامج الحقيقية (لا ردود جاهزة) — ينفّذ ويكتب القيد ويرحّله باعتمادك، ويرد عليك بالصوت فعلياً.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554480"/>
            <a:ext cx="3611880" cy="1874519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27848" y="1664208"/>
            <a:ext cx="64008" cy="1655063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664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وكيل القيود الصوتي — تكلم وهو يرد عليك بالصوت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48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F1F5F9"/>
                </a:solidFill>
                <a:latin typeface="Segoe UI"/>
              </a:rPr>
              <a:t>تتكلم بالعامية: «صرفت 1200 كهرباء من الخزينة» ⇒ يجهّز مسودة القيد، تعتمدها فترحّل وينطق لك النتيجة — الصوت لا يرحّل وحده أبداً.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1554480"/>
            <a:ext cx="3611880" cy="1874519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759184" y="1664208"/>
            <a:ext cx="64008" cy="1655063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642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Segoe UI"/>
              </a:rPr>
              <a:t>مساعد اللوائح المرفقية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1488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F1F5F9"/>
                </a:solidFill>
                <a:latin typeface="Segoe UI"/>
              </a:rPr>
              <a:t>يسأل عن نص مادة فيجيب من نصوص اللوائح بسندها (إجابة مباشرة من المادة) مع إظهار حدود قراءة الملف الممسوح ضوئياً.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3611880" cy="1874519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96512" y="3721608"/>
            <a:ext cx="64008" cy="1655063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21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34D399"/>
                </a:solidFill>
                <a:latin typeface="Segoe UI"/>
              </a:rPr>
              <a:t>فهم الملفات والتصنيف الآلي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206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F1F5F9"/>
                </a:solidFill>
                <a:latin typeface="Segoe UI"/>
              </a:rPr>
              <a:t>يقرأ كشوف CSV واستمارة 2 تأمينات: استُخرج 76 عاملاً تلقائياً، ويقترح الحساب المحاسبي المناسب للبند عند التسجيل.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3611880"/>
            <a:ext cx="3611880" cy="1874519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7848" y="3721608"/>
            <a:ext cx="64008" cy="1655063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721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الاستخراج والبحث الفوري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206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F1F5F9"/>
                </a:solidFill>
                <a:latin typeface="Segoe UI"/>
              </a:rPr>
              <a:t>«استخرج بيانات العاملين» ⇒ ملف CSV من 76 سجلاً، و«ابحث عن شيك 123456» أو «قيود شهر 9 2025» ⇒ نتيجة فورية بسندها.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2" y="3611880"/>
            <a:ext cx="3611880" cy="1874519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759184" y="3721608"/>
            <a:ext cx="64008" cy="1655063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3721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818CF8"/>
                </a:solidFill>
                <a:latin typeface="Segoe UI"/>
              </a:rPr>
              <a:t>الفاتورة الإلكترونية بالرقم الضريبي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2062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100" b="0">
                <a:solidFill>
                  <a:srgbClr val="F1F5F9"/>
                </a:solidFill>
                <a:latin typeface="Segoe UI"/>
              </a:rPr>
              <a:t>يجهّز مستند الفاتورة (صافي + قيمة مضافة 14%) ويحفظها مسودة معلّقة، وترسلها لمنظومة الضرائب بأمر واحد.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BBF24"/>
                </a:solidFill>
                <a:latin typeface="Segoe UI"/>
              </a:rPr>
              <a:t>كل قدرات الذكاء الاصطناعي تعمل محلياً على جهازك — لا تُرسل بياناتك لأي خدمة خارجية.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05 — من الكلام إلى التنفيذ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أمثلة أوامر تنفّذها فعلاً الآن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10995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3621"/>
                <a:gridCol w="3580896"/>
                <a:gridCol w="3305442"/>
              </a:tblGrid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22D3EE"/>
                          </a:solidFill>
                          <a:latin typeface="Segoe UI"/>
                        </a:rPr>
                        <a:t>ما تقوله بالعامية</a:t>
                      </a:r>
                    </a:p>
                  </a:txBody>
                  <a:tcPr marL="73152" marR="73152" anchor="ctr">
                    <a:solidFill>
                      <a:srgbClr val="101A2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22D3EE"/>
                          </a:solidFill>
                          <a:latin typeface="Segoe UI"/>
                        </a:rPr>
                        <a:t>ما ينفّذه البرنامج</a:t>
                      </a:r>
                    </a:p>
                  </a:txBody>
                  <a:tcPr marL="73152" marR="73152" anchor="ctr">
                    <a:solidFill>
                      <a:srgbClr val="101A2C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300" b="1">
                          <a:solidFill>
                            <a:srgbClr val="22D3EE"/>
                          </a:solidFill>
                          <a:latin typeface="Segoe UI"/>
                        </a:rPr>
                        <a:t>النتيجة في الاختبار</a:t>
                      </a:r>
                    </a:p>
                  </a:txBody>
                  <a:tcPr marL="73152" marR="73152" anchor="ctr">
                    <a:solidFill>
                      <a:srgbClr val="101A2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اعمل فاتورة إلكترونية لشركة المقاولون العرب بـ 50000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مستند فاتورة + قيمة مضافة 14%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INV-2026-0010 — مسودة معلّقة 57,000 ج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أرسلها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إرسال لمنظومة مصلحة الضرائب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الرد: VALID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ولّد مسير مرتبات سبتمبر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توليد مسير من المرتبات والبصمة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PR-2026-09 — 76 عاملاً • صافي 486,809.12 ج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رحّل مسير مرتبات سبتمبر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اعتماد وترحيل المسير بقيد محاسبي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الحالة: POSTED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استخرج بيانات العاملين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استخراج وملف CSV قابل للتنزيل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76 سجلاً — 4,111 بايت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ابحث عن حنان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بحث في العاملين والأستاذ والقيود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2 عامل • 3 أطراف • 31 قيداً ببيان مطابق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ابحث في قيود شهر 9 2025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بحث بالتواريخ مع تحديد الفترة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11 قيداً مرحّلاً بإجمالي 53,896 ج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وريني حالة ربط البصمة بالمراتب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قراءة حالة الربط والقرار ومن اعتمده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200" b="0">
                          <a:solidFill>
                            <a:srgbClr val="F1F5F9"/>
                          </a:solidFill>
                          <a:latin typeface="Segoe UI"/>
                        </a:rPr>
                        <a:t>معتمد — بقلم محمد عبد الله أحمد</a:t>
                      </a:r>
                    </a:p>
                  </a:txBody>
                  <a:tcPr marL="73152" marR="73152" anchor="ctr">
                    <a:solidFill>
                      <a:srgbClr val="151F3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ولمزيد: اكتب «مساعدة» داخل المساعد فيعرض لك كل ما يقدر ينفّذه على بيانات برنامجك.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06 — الحماية والمساءلة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الصلاحيات وسجل التدقيق — لماذا هو آمن؟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486400" cy="420624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594592" y="1664208"/>
            <a:ext cx="64008" cy="3986784"/>
          </a:xfrm>
          <a:prstGeom prst="round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•  بوابة اعتماد مقيّدة بالاسم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منح اعتماد ربط البصمة بالمراتب مقصور على حساب محمد عبد الله أحمد وحده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أي مستخدم آخر يحصل على رفض واضح: «مقصور على محمد عبد الله أحمد»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حالة الربط محفوظة: غير مربوط • منتظر • معتمد • مرفوض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كل قرار يُسجَّل بالاسم والتاريخ والملاحظة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لا يستطيع المساعد ولا الصوت ترحيل أي شيء بدون اعتمادك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394960" cy="420624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79592" y="1664208"/>
            <a:ext cx="64008" cy="398678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•  طبقات الحماية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صلاحيات لكل شاشة وعملية (إدارة الموارد • الرسملة • الاعتماد)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سجل تدقيق نظامي لكل كتابة: من فعلها ومتى وعلى أي مستند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تسجيل الدخول بحساب موثّق (تشفير كلمات المرور)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بيانات الفاتورة الإلكترونية قابلة للتنزيل والتحقق والإلغاء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العمل بوضع محلي كامل بلا إنترنت مع إمكانية الربط بـ PostgreSQL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حماية معدّل الطلبات وإدارة الجلسات على الخادم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FBBF24"/>
                </a:solidFill>
                <a:latin typeface="Segoe UI"/>
              </a:rPr>
              <a:t>عرض حقيقي في الاختبار: اعتماد بمستخدم آخر ⇒ رفض 403 • اعتماد محمد عبد الله ⇒ الحالة «معتمد».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07 — المكسب العملي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الأثر المتوقّع على العمل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109960" cy="196596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594592" y="1664208"/>
            <a:ext cx="64008" cy="174650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19072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1">
                <a:solidFill>
                  <a:srgbClr val="F1F5F9"/>
                </a:solidFill>
                <a:latin typeface="Segoe UI"/>
              </a:rPr>
              <a:t>•  ما الذي يتغير فعلياً؟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خصم الغياب والتأخير يصبح مبنياً على دليل بصمة معتمد لا على تقدير إداري • مسير المرتبات يُجهَّز ويُرحَّل في دقائق بدل أيام • الفاتورة الإلكترونية والقيد الضريبي يُسجَّلان برقم قيد مرئي • والبيانات كلها قابلة للاستخراج بضغطة زر للتسليم لأي جهة رقابية.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050792" y="3813048"/>
            <a:ext cx="64008" cy="950976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7764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زمن تجهيز المسير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34D399"/>
                </a:solidFill>
                <a:latin typeface="Segoe UI"/>
              </a:rPr>
              <a:t>دقائق معدودة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07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توليد ثم اعتماد ثم ترحيل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370332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3813048"/>
            <a:ext cx="64008" cy="950976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37764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أساس الخصم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5696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22D3EE"/>
                </a:solidFill>
                <a:latin typeface="Segoe UI"/>
              </a:rPr>
              <a:t>بصمة موثّقة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4507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76 عاملاً بدرجة مطابقة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3703320"/>
            <a:ext cx="3566160" cy="1170432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585448" y="3813048"/>
            <a:ext cx="64008" cy="950976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37764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الاستخراج والتقارير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40873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1">
                <a:solidFill>
                  <a:srgbClr val="818CF8"/>
                </a:solidFill>
                <a:latin typeface="Segoe UI"/>
              </a:rPr>
              <a:t>CSV فوري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4507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عاملون • حسابات • قيود • بحث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1F5F9"/>
                </a:solidFill>
                <a:latin typeface="Segoe UI"/>
              </a:rPr>
              <a:t>•  الخطوات التالية المقترحة</a:t>
            </a:r>
          </a:p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F1F5F9"/>
                </a:solidFill>
                <a:latin typeface="Segoe UI"/>
              </a:rPr>
              <a:t>•  تسجيل بصمات العاملين فعلياً على جهاز البصمة بالمقر • تدريب الموظفين على المساعد العام • ربط بورتال البصمة بالأجهزة الحقيقية عند توفرها • بدء الاعتماد الشهري للمسير من شاشة واحدة.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22D3EE"/>
                </a:solidFill>
                <a:latin typeface="Segoe UI"/>
              </a:rPr>
              <a:t>08 — المطلوب حرفياً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b="1">
                <a:solidFill>
                  <a:srgbClr val="F1F5F9"/>
                </a:solidFill>
                <a:latin typeface="Segoe UI"/>
              </a:rPr>
              <a:t>تحديثات نُفِّذت الآن: 9 وحدات + الإملاء الصوتي + الرد بالصوت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554480"/>
            <a:ext cx="3611880" cy="406908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59184" y="1664208"/>
            <a:ext cx="64008" cy="384962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75904" y="1700784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1F5F9"/>
                </a:solidFill>
                <a:latin typeface="Segoe UI"/>
              </a:rPr>
              <a:t>•  المحاسبة والمالية: 9 وحدات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أُضيفت «الميزانية العمومية والحسابات الختامية» داخل القسم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وأُضيفت «الأصول الثابتة والإهلاكات» — بنفس النهج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العدّاد يعرض «9 وحدات» آلياً وكل وحدة تفتح شاشتها الفعلية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وأُزيلت الأقواس «(داخل ...)» من العناوين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54480"/>
            <a:ext cx="3611880" cy="406908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27848" y="1664208"/>
            <a:ext cx="64008" cy="3849624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700784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1F5F9"/>
                </a:solidFill>
                <a:latin typeface="Segoe UI"/>
              </a:rPr>
              <a:t>•  ميزة الصوت: كانت لا تعمل — والآن تعمل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السبب: المسار القديم كان يحتاج مفتاح Gemini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الحل: التعرف من المتصفح مباشرة بلا مفتاح (Chrome/Edge)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وعلى الجهاز يعمل حتى بلا إنترنت، والخادم احتياطي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سطر حالة يشرح السبب — مفيش فشل صامت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وفي المعاينة: زر «افتح في نافذة مستقلة» + «إملاء نصي» بنفس المسار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54480"/>
            <a:ext cx="3611880" cy="406908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96512" y="1664208"/>
            <a:ext cx="64008" cy="384962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700784"/>
            <a:ext cx="32918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400" b="1">
                <a:solidFill>
                  <a:srgbClr val="F1F5F9"/>
                </a:solidFill>
                <a:latin typeface="Segoe UI"/>
              </a:rPr>
              <a:t>•  الرد الصوتي: المساعد بقى يتكلم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كل رد يُنطق بصوت عربي (ar-EG) من المتصفح/الجهاز بلا مفتاح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والنطق مُجهَّز للسمع: الأرقام كلمات عربية، وتشكيل، وجمل قصيرة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زر «اسمع الرد» لكل رد + تفعيل/إيقاف + إيقاف القراءة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بعد الإملاء الصوتي يبدأ النطق تلقائياً ⇒ محادثة كاملة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لو مفيش صوت عربي: سطر إرشاد بدل الصمت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وأيقونة المساعد العام انتقلت ليمين الواجهة</a:t>
            </a:r>
          </a:p>
          <a:p>
            <a:pPr algn="r" rtl="1">
              <a:spcAft>
                <a:spcPts val="600"/>
              </a:spcAft>
            </a:pPr>
            <a:r>
              <a:rPr sz="1150" b="0">
                <a:solidFill>
                  <a:srgbClr val="F1F5F9"/>
                </a:solidFill>
                <a:latin typeface="Segoe UI"/>
              </a:rPr>
              <a:t>•  وإصلاح «تنسيق صوتي غير صالح (dataUrl)» في مسار /stt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200" b="0">
                <a:solidFill>
                  <a:srgbClr val="FBBF24"/>
                </a:solidFill>
                <a:latin typeface="Segoe UI"/>
              </a:rPr>
              <a:t>فحوص الجولات الأخيرة: الرد الصوتي 17/17 • النص المنطوق 12/12 • الصوت والوحدات 17/17 • المساعد العام 30/30 — بإجمالي 240 فحصاً ناجحاً.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1109960" cy="2926080"/>
          </a:xfrm>
          <a:prstGeom prst="roundRect">
            <a:avLst/>
          </a:prstGeom>
          <a:solidFill>
            <a:srgbClr val="151F33"/>
          </a:solidFill>
          <a:ln>
            <a:solidFill>
              <a:srgbClr val="1E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94592" y="2121408"/>
            <a:ext cx="64008" cy="270662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1">
                <a:solidFill>
                  <a:srgbClr val="22D3EE"/>
                </a:solidFill>
                <a:latin typeface="Segoe UI"/>
              </a:rPr>
              <a:t>الخلاصة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F1F5F9"/>
                </a:solidFill>
                <a:latin typeface="Segoe UI"/>
              </a:rPr>
              <a:t>•  برنامج واحد يجمع: بصمة اليد والوجه • المرتبات • الضرائب والفاتورة الإلكترونية • المساعد الذكي في كل الشاشات.</a:t>
            </a:r>
          </a:p>
          <a:p>
            <a:pPr algn="r" rtl="1">
              <a:spcAft>
                <a:spcPts val="600"/>
              </a:spcAft>
            </a:pPr>
            <a:r>
              <a:rPr sz="1700" b="0">
                <a:solidFill>
                  <a:srgbClr val="F1F5F9"/>
                </a:solidFill>
                <a:latin typeface="Segoe UI"/>
              </a:rPr>
              <a:t>•  والذكاء الاصطناعي فيه ليس واجهة للعرض — بل ينفّذ على بياناتك الحقيقية، وأنت من يعتمد.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جاهز للتشغيل على جهازك بويندوز — بلا إنترنت وبلا خدمات خارجية | 240 فحص تشغيل ناجح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